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6" r:id="rId1"/>
  </p:sldMasterIdLst>
  <p:notesMasterIdLst>
    <p:notesMasterId r:id="rId3"/>
  </p:notesMasterIdLst>
  <p:sldIdLst>
    <p:sldId id="262" r:id="rId2"/>
  </p:sldIdLst>
  <p:sldSz cx="21386800" cy="30279975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안내사항" id="{C8041419-AEE7-47FA-9D2A-EDD6A6D0E6A1}">
          <p14:sldIdLst/>
        </p14:section>
        <p14:section name="작업슬라이드" id="{3B49930E-6A6E-45B7-9ADA-93C809BD14D5}">
          <p14:sldIdLst/>
        </p14:section>
        <p14:section name="작업예시" id="{93E3C8B1-B716-4983-92CF-923CFB0C7BDD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537">
          <p15:clr>
            <a:srgbClr val="A4A3A4"/>
          </p15:clr>
        </p15:guide>
        <p15:guide id="2" pos="67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09" autoAdjust="0"/>
    <p:restoredTop sz="94660"/>
  </p:normalViewPr>
  <p:slideViewPr>
    <p:cSldViewPr>
      <p:cViewPr varScale="1">
        <p:scale>
          <a:sx n="34" d="100"/>
          <a:sy n="34" d="100"/>
        </p:scale>
        <p:origin x="24" y="150"/>
      </p:cViewPr>
      <p:guideLst>
        <p:guide orient="horz" pos="9537"/>
        <p:guide pos="6735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4396E30-7EDE-4223-BF7F-DC93CB7FF36B}" type="datetime1">
              <a:rPr lang="ko-KR" altLang="en-US"/>
              <a:pPr lvl="0">
                <a:defRPr/>
              </a:pPr>
              <a:t>2024-12-11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062163" y="739775"/>
            <a:ext cx="2611437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3C2C3861-861C-472F-8B31-40A17AB2D7F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010" y="4955545"/>
            <a:ext cx="18178780" cy="10541917"/>
          </a:xfrm>
        </p:spPr>
        <p:txBody>
          <a:bodyPr anchor="b"/>
          <a:lstStyle>
            <a:lvl1pPr algn="ctr">
              <a:defRPr sz="1403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3350" y="15903998"/>
            <a:ext cx="16040100" cy="7310649"/>
          </a:xfrm>
        </p:spPr>
        <p:txBody>
          <a:bodyPr/>
          <a:lstStyle>
            <a:lvl1pPr marL="0" indent="0" algn="ctr">
              <a:buNone/>
              <a:defRPr sz="5613"/>
            </a:lvl1pPr>
            <a:lvl2pPr marL="1069345" indent="0" algn="ctr">
              <a:buNone/>
              <a:defRPr sz="4678"/>
            </a:lvl2pPr>
            <a:lvl3pPr marL="2138690" indent="0" algn="ctr">
              <a:buNone/>
              <a:defRPr sz="4210"/>
            </a:lvl3pPr>
            <a:lvl4pPr marL="3208035" indent="0" algn="ctr">
              <a:buNone/>
              <a:defRPr sz="3742"/>
            </a:lvl4pPr>
            <a:lvl5pPr marL="4277380" indent="0" algn="ctr">
              <a:buNone/>
              <a:defRPr sz="3742"/>
            </a:lvl5pPr>
            <a:lvl6pPr marL="5346725" indent="0" algn="ctr">
              <a:buNone/>
              <a:defRPr sz="3742"/>
            </a:lvl6pPr>
            <a:lvl7pPr marL="6416070" indent="0" algn="ctr">
              <a:buNone/>
              <a:defRPr sz="3742"/>
            </a:lvl7pPr>
            <a:lvl8pPr marL="7485416" indent="0" algn="ctr">
              <a:buNone/>
              <a:defRPr sz="3742"/>
            </a:lvl8pPr>
            <a:lvl9pPr marL="8554761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152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5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9205" y="7548975"/>
            <a:ext cx="18446115" cy="12595626"/>
          </a:xfrm>
        </p:spPr>
        <p:txBody>
          <a:bodyPr anchor="b"/>
          <a:lstStyle>
            <a:lvl1pPr>
              <a:defRPr sz="1403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9205" y="20263761"/>
            <a:ext cx="18446115" cy="6623742"/>
          </a:xfrm>
        </p:spPr>
        <p:txBody>
          <a:bodyPr/>
          <a:lstStyle>
            <a:lvl1pPr marL="0" indent="0">
              <a:buNone/>
              <a:defRPr sz="5613">
                <a:solidFill>
                  <a:schemeClr val="tx1"/>
                </a:solidFill>
              </a:defRPr>
            </a:lvl1pPr>
            <a:lvl2pPr marL="1069345" indent="0">
              <a:buNone/>
              <a:defRPr sz="4678">
                <a:solidFill>
                  <a:schemeClr val="tx1">
                    <a:tint val="75000"/>
                  </a:schemeClr>
                </a:solidFill>
              </a:defRPr>
            </a:lvl2pPr>
            <a:lvl3pPr marL="2138690" indent="0">
              <a:buNone/>
              <a:defRPr sz="4210">
                <a:solidFill>
                  <a:schemeClr val="tx1">
                    <a:tint val="75000"/>
                  </a:schemeClr>
                </a:solidFill>
              </a:defRPr>
            </a:lvl3pPr>
            <a:lvl4pPr marL="32080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738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672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607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5416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476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350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343" y="8060641"/>
            <a:ext cx="9089390" cy="192123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7068" y="8060641"/>
            <a:ext cx="9089390" cy="192123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251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128" y="1612135"/>
            <a:ext cx="18446115" cy="585272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131" y="7422802"/>
            <a:ext cx="9047617" cy="3637800"/>
          </a:xfrm>
        </p:spPr>
        <p:txBody>
          <a:bodyPr anchor="b"/>
          <a:lstStyle>
            <a:lvl1pPr marL="0" indent="0">
              <a:buNone/>
              <a:defRPr sz="5613" b="1"/>
            </a:lvl1pPr>
            <a:lvl2pPr marL="1069345" indent="0">
              <a:buNone/>
              <a:defRPr sz="4678" b="1"/>
            </a:lvl2pPr>
            <a:lvl3pPr marL="2138690" indent="0">
              <a:buNone/>
              <a:defRPr sz="4210" b="1"/>
            </a:lvl3pPr>
            <a:lvl4pPr marL="3208035" indent="0">
              <a:buNone/>
              <a:defRPr sz="3742" b="1"/>
            </a:lvl4pPr>
            <a:lvl5pPr marL="4277380" indent="0">
              <a:buNone/>
              <a:defRPr sz="3742" b="1"/>
            </a:lvl5pPr>
            <a:lvl6pPr marL="5346725" indent="0">
              <a:buNone/>
              <a:defRPr sz="3742" b="1"/>
            </a:lvl6pPr>
            <a:lvl7pPr marL="6416070" indent="0">
              <a:buNone/>
              <a:defRPr sz="3742" b="1"/>
            </a:lvl7pPr>
            <a:lvl8pPr marL="7485416" indent="0">
              <a:buNone/>
              <a:defRPr sz="3742" b="1"/>
            </a:lvl8pPr>
            <a:lvl9pPr marL="8554761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3131" y="11060602"/>
            <a:ext cx="9047617" cy="16268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7068" y="7422802"/>
            <a:ext cx="9092176" cy="3637800"/>
          </a:xfrm>
        </p:spPr>
        <p:txBody>
          <a:bodyPr anchor="b"/>
          <a:lstStyle>
            <a:lvl1pPr marL="0" indent="0">
              <a:buNone/>
              <a:defRPr sz="5613" b="1"/>
            </a:lvl1pPr>
            <a:lvl2pPr marL="1069345" indent="0">
              <a:buNone/>
              <a:defRPr sz="4678" b="1"/>
            </a:lvl2pPr>
            <a:lvl3pPr marL="2138690" indent="0">
              <a:buNone/>
              <a:defRPr sz="4210" b="1"/>
            </a:lvl3pPr>
            <a:lvl4pPr marL="3208035" indent="0">
              <a:buNone/>
              <a:defRPr sz="3742" b="1"/>
            </a:lvl4pPr>
            <a:lvl5pPr marL="4277380" indent="0">
              <a:buNone/>
              <a:defRPr sz="3742" b="1"/>
            </a:lvl5pPr>
            <a:lvl6pPr marL="5346725" indent="0">
              <a:buNone/>
              <a:defRPr sz="3742" b="1"/>
            </a:lvl6pPr>
            <a:lvl7pPr marL="6416070" indent="0">
              <a:buNone/>
              <a:defRPr sz="3742" b="1"/>
            </a:lvl7pPr>
            <a:lvl8pPr marL="7485416" indent="0">
              <a:buNone/>
              <a:defRPr sz="3742" b="1"/>
            </a:lvl8pPr>
            <a:lvl9pPr marL="8554761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7068" y="11060602"/>
            <a:ext cx="9092176" cy="16268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056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165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76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128" y="2018665"/>
            <a:ext cx="6897800" cy="7065328"/>
          </a:xfrm>
        </p:spPr>
        <p:txBody>
          <a:bodyPr anchor="b"/>
          <a:lstStyle>
            <a:lvl1pPr>
              <a:defRPr sz="748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2175" y="4359762"/>
            <a:ext cx="10827068" cy="21518408"/>
          </a:xfrm>
        </p:spPr>
        <p:txBody>
          <a:bodyPr/>
          <a:lstStyle>
            <a:lvl1pPr>
              <a:defRPr sz="7484"/>
            </a:lvl1pPr>
            <a:lvl2pPr>
              <a:defRPr sz="6549"/>
            </a:lvl2pPr>
            <a:lvl3pPr>
              <a:defRPr sz="5613"/>
            </a:lvl3pPr>
            <a:lvl4pPr>
              <a:defRPr sz="4678"/>
            </a:lvl4pPr>
            <a:lvl5pPr>
              <a:defRPr sz="4678"/>
            </a:lvl5pPr>
            <a:lvl6pPr>
              <a:defRPr sz="4678"/>
            </a:lvl6pPr>
            <a:lvl7pPr>
              <a:defRPr sz="4678"/>
            </a:lvl7pPr>
            <a:lvl8pPr>
              <a:defRPr sz="4678"/>
            </a:lvl8pPr>
            <a:lvl9pPr>
              <a:defRPr sz="467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128" y="9083992"/>
            <a:ext cx="6897800" cy="16829220"/>
          </a:xfrm>
        </p:spPr>
        <p:txBody>
          <a:bodyPr/>
          <a:lstStyle>
            <a:lvl1pPr marL="0" indent="0">
              <a:buNone/>
              <a:defRPr sz="3742"/>
            </a:lvl1pPr>
            <a:lvl2pPr marL="1069345" indent="0">
              <a:buNone/>
              <a:defRPr sz="3274"/>
            </a:lvl2pPr>
            <a:lvl3pPr marL="2138690" indent="0">
              <a:buNone/>
              <a:defRPr sz="2807"/>
            </a:lvl3pPr>
            <a:lvl4pPr marL="3208035" indent="0">
              <a:buNone/>
              <a:defRPr sz="2339"/>
            </a:lvl4pPr>
            <a:lvl5pPr marL="4277380" indent="0">
              <a:buNone/>
              <a:defRPr sz="2339"/>
            </a:lvl5pPr>
            <a:lvl6pPr marL="5346725" indent="0">
              <a:buNone/>
              <a:defRPr sz="2339"/>
            </a:lvl6pPr>
            <a:lvl7pPr marL="6416070" indent="0">
              <a:buNone/>
              <a:defRPr sz="2339"/>
            </a:lvl7pPr>
            <a:lvl8pPr marL="7485416" indent="0">
              <a:buNone/>
              <a:defRPr sz="2339"/>
            </a:lvl8pPr>
            <a:lvl9pPr marL="8554761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22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128" y="2018665"/>
            <a:ext cx="6897800" cy="7065328"/>
          </a:xfrm>
        </p:spPr>
        <p:txBody>
          <a:bodyPr anchor="b"/>
          <a:lstStyle>
            <a:lvl1pPr>
              <a:defRPr sz="748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2175" y="4359762"/>
            <a:ext cx="10827068" cy="21518408"/>
          </a:xfrm>
        </p:spPr>
        <p:txBody>
          <a:bodyPr anchor="t"/>
          <a:lstStyle>
            <a:lvl1pPr marL="0" indent="0">
              <a:buNone/>
              <a:defRPr sz="7484"/>
            </a:lvl1pPr>
            <a:lvl2pPr marL="1069345" indent="0">
              <a:buNone/>
              <a:defRPr sz="6549"/>
            </a:lvl2pPr>
            <a:lvl3pPr marL="2138690" indent="0">
              <a:buNone/>
              <a:defRPr sz="5613"/>
            </a:lvl3pPr>
            <a:lvl4pPr marL="3208035" indent="0">
              <a:buNone/>
              <a:defRPr sz="4678"/>
            </a:lvl4pPr>
            <a:lvl5pPr marL="4277380" indent="0">
              <a:buNone/>
              <a:defRPr sz="4678"/>
            </a:lvl5pPr>
            <a:lvl6pPr marL="5346725" indent="0">
              <a:buNone/>
              <a:defRPr sz="4678"/>
            </a:lvl6pPr>
            <a:lvl7pPr marL="6416070" indent="0">
              <a:buNone/>
              <a:defRPr sz="4678"/>
            </a:lvl7pPr>
            <a:lvl8pPr marL="7485416" indent="0">
              <a:buNone/>
              <a:defRPr sz="4678"/>
            </a:lvl8pPr>
            <a:lvl9pPr marL="8554761" indent="0">
              <a:buNone/>
              <a:defRPr sz="4678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128" y="9083992"/>
            <a:ext cx="6897800" cy="16829220"/>
          </a:xfrm>
        </p:spPr>
        <p:txBody>
          <a:bodyPr/>
          <a:lstStyle>
            <a:lvl1pPr marL="0" indent="0">
              <a:buNone/>
              <a:defRPr sz="3742"/>
            </a:lvl1pPr>
            <a:lvl2pPr marL="1069345" indent="0">
              <a:buNone/>
              <a:defRPr sz="3274"/>
            </a:lvl2pPr>
            <a:lvl3pPr marL="2138690" indent="0">
              <a:buNone/>
              <a:defRPr sz="2807"/>
            </a:lvl3pPr>
            <a:lvl4pPr marL="3208035" indent="0">
              <a:buNone/>
              <a:defRPr sz="2339"/>
            </a:lvl4pPr>
            <a:lvl5pPr marL="4277380" indent="0">
              <a:buNone/>
              <a:defRPr sz="2339"/>
            </a:lvl5pPr>
            <a:lvl6pPr marL="5346725" indent="0">
              <a:buNone/>
              <a:defRPr sz="2339"/>
            </a:lvl6pPr>
            <a:lvl7pPr marL="6416070" indent="0">
              <a:buNone/>
              <a:defRPr sz="2339"/>
            </a:lvl7pPr>
            <a:lvl8pPr marL="7485416" indent="0">
              <a:buNone/>
              <a:defRPr sz="2339"/>
            </a:lvl8pPr>
            <a:lvl9pPr marL="8554761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93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2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4930" y="1612128"/>
            <a:ext cx="4611529" cy="25660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344" y="1612128"/>
            <a:ext cx="13567251" cy="25660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704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343" y="1612135"/>
            <a:ext cx="18446115" cy="5852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343" y="8060641"/>
            <a:ext cx="18446115" cy="19212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343" y="28065058"/>
            <a:ext cx="4812030" cy="1612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634B2-0512-4F4C-B407-3D57756A1622}" type="datetimeFigureOut">
              <a:rPr lang="ko-KR" altLang="en-US" smtClean="0"/>
              <a:t>2024-12-11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4378" y="28065058"/>
            <a:ext cx="7218045" cy="1612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4428" y="28065058"/>
            <a:ext cx="4812030" cy="1612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E09AB-8D4C-4440-B92E-07EDF4584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056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</p:sldLayoutIdLst>
  <p:txStyles>
    <p:titleStyle>
      <a:lvl1pPr algn="l" defTabSz="2138690" rtl="0" eaLnBrk="1" latinLnBrk="1" hangingPunct="1">
        <a:lnSpc>
          <a:spcPct val="90000"/>
        </a:lnSpc>
        <a:spcBef>
          <a:spcPct val="0"/>
        </a:spcBef>
        <a:buNone/>
        <a:defRPr sz="102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673" indent="-534673" algn="l" defTabSz="2138690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9" kern="1200">
          <a:solidFill>
            <a:schemeClr val="tx1"/>
          </a:solidFill>
          <a:latin typeface="+mn-lt"/>
          <a:ea typeface="+mn-ea"/>
          <a:cs typeface="+mn-cs"/>
        </a:defRPr>
      </a:lvl1pPr>
      <a:lvl2pPr marL="1604018" indent="-534673" algn="l" defTabSz="2138690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673363" indent="-534673" algn="l" defTabSz="2138690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8" kern="1200">
          <a:solidFill>
            <a:schemeClr val="tx1"/>
          </a:solidFill>
          <a:latin typeface="+mn-lt"/>
          <a:ea typeface="+mn-ea"/>
          <a:cs typeface="+mn-cs"/>
        </a:defRPr>
      </a:lvl3pPr>
      <a:lvl4pPr marL="3742708" indent="-534673" algn="l" defTabSz="2138690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812053" indent="-534673" algn="l" defTabSz="2138690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881398" indent="-534673" algn="l" defTabSz="2138690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950743" indent="-534673" algn="l" defTabSz="2138690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8020088" indent="-534673" algn="l" defTabSz="2138690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9089433" indent="-534673" algn="l" defTabSz="2138690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690" rtl="0" eaLnBrk="1" latinLnBrk="1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1pPr>
      <a:lvl2pPr marL="1069345" algn="l" defTabSz="2138690" rtl="0" eaLnBrk="1" latinLnBrk="1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138690" algn="l" defTabSz="2138690" rtl="0" eaLnBrk="1" latinLnBrk="1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3pPr>
      <a:lvl4pPr marL="3208035" algn="l" defTabSz="2138690" rtl="0" eaLnBrk="1" latinLnBrk="1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277380" algn="l" defTabSz="2138690" rtl="0" eaLnBrk="1" latinLnBrk="1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346725" algn="l" defTabSz="2138690" rtl="0" eaLnBrk="1" latinLnBrk="1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416070" algn="l" defTabSz="2138690" rtl="0" eaLnBrk="1" latinLnBrk="1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7485416" algn="l" defTabSz="2138690" rtl="0" eaLnBrk="1" latinLnBrk="1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8554761" algn="l" defTabSz="2138690" rtl="0" eaLnBrk="1" latinLnBrk="1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92179-3A50-20B7-C93B-A932DA465094}"/>
              </a:ext>
            </a:extLst>
          </p:cNvPr>
          <p:cNvSpPr txBox="1"/>
          <p:nvPr/>
        </p:nvSpPr>
        <p:spPr>
          <a:xfrm>
            <a:off x="1148279" y="931016"/>
            <a:ext cx="4732578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6600" b="1" dirty="0">
                <a:solidFill>
                  <a:schemeClr val="bg1"/>
                </a:solidFill>
              </a:rPr>
              <a:t>SW</a:t>
            </a:r>
            <a:r>
              <a:rPr lang="ko-KR" altLang="en-US" sz="6600" b="1" dirty="0">
                <a:solidFill>
                  <a:schemeClr val="bg1"/>
                </a:solidFill>
              </a:rPr>
              <a:t>융합대학</a:t>
            </a:r>
            <a:endParaRPr lang="en-US" altLang="ko-KR" sz="6600" b="1" dirty="0">
              <a:solidFill>
                <a:schemeClr val="bg1"/>
              </a:solidFill>
            </a:endParaRPr>
          </a:p>
          <a:p>
            <a:pPr lvl="0">
              <a:defRPr/>
            </a:pPr>
            <a:r>
              <a:rPr lang="en-US" altLang="ko-KR" sz="6600" b="1" dirty="0">
                <a:solidFill>
                  <a:schemeClr val="bg1"/>
                </a:solidFill>
              </a:rPr>
              <a:t>IT</a:t>
            </a:r>
            <a:r>
              <a:rPr lang="ko-KR" altLang="en-US" sz="6600" b="1" dirty="0">
                <a:solidFill>
                  <a:schemeClr val="bg1"/>
                </a:solidFill>
              </a:rPr>
              <a:t>융합학부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91B47A8-832A-9601-1D0A-FA2E0E563205}"/>
              </a:ext>
            </a:extLst>
          </p:cNvPr>
          <p:cNvSpPr/>
          <p:nvPr/>
        </p:nvSpPr>
        <p:spPr>
          <a:xfrm>
            <a:off x="505496" y="5418907"/>
            <a:ext cx="7920880" cy="82809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7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0" dirty="0">
                <a:solidFill>
                  <a:sysClr val="windowText" lastClr="000000"/>
                </a:solidFill>
              </a:rPr>
              <a:t>제작개요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C4CEB1D-7619-B5D5-7A40-251598AA9AA4}"/>
              </a:ext>
            </a:extLst>
          </p:cNvPr>
          <p:cNvSpPr/>
          <p:nvPr/>
        </p:nvSpPr>
        <p:spPr>
          <a:xfrm>
            <a:off x="505496" y="6491547"/>
            <a:ext cx="20341032" cy="6632216"/>
          </a:xfrm>
          <a:prstGeom prst="round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A20B683-C564-C349-F123-567F4DAA023F}"/>
              </a:ext>
            </a:extLst>
          </p:cNvPr>
          <p:cNvSpPr/>
          <p:nvPr/>
        </p:nvSpPr>
        <p:spPr>
          <a:xfrm>
            <a:off x="522884" y="13779315"/>
            <a:ext cx="7920880" cy="82809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7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0" dirty="0">
                <a:solidFill>
                  <a:sysClr val="windowText" lastClr="000000"/>
                </a:solidFill>
              </a:rPr>
              <a:t>작품결과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2C94186-A3F0-D68D-893A-C619D9F68AB6}"/>
              </a:ext>
            </a:extLst>
          </p:cNvPr>
          <p:cNvSpPr/>
          <p:nvPr/>
        </p:nvSpPr>
        <p:spPr>
          <a:xfrm>
            <a:off x="522884" y="14851955"/>
            <a:ext cx="20341032" cy="6632216"/>
          </a:xfrm>
          <a:prstGeom prst="round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017CC2D-E60C-9AB5-C5A4-9DD03717B8B8}"/>
              </a:ext>
            </a:extLst>
          </p:cNvPr>
          <p:cNvSpPr/>
          <p:nvPr/>
        </p:nvSpPr>
        <p:spPr>
          <a:xfrm>
            <a:off x="522884" y="22139723"/>
            <a:ext cx="7920880" cy="82809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7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0" dirty="0">
                <a:solidFill>
                  <a:sysClr val="windowText" lastClr="000000"/>
                </a:solidFill>
              </a:rPr>
              <a:t>기대효과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C47361E-7E40-EAEB-DDA5-6686107DC32F}"/>
              </a:ext>
            </a:extLst>
          </p:cNvPr>
          <p:cNvSpPr/>
          <p:nvPr/>
        </p:nvSpPr>
        <p:spPr>
          <a:xfrm>
            <a:off x="522884" y="23212363"/>
            <a:ext cx="20341032" cy="6632216"/>
          </a:xfrm>
          <a:prstGeom prst="roundRect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EA4CE1-96B3-DD2C-F0C9-E538BE4F0357}"/>
              </a:ext>
            </a:extLst>
          </p:cNvPr>
          <p:cNvSpPr txBox="1"/>
          <p:nvPr/>
        </p:nvSpPr>
        <p:spPr>
          <a:xfrm>
            <a:off x="8029104" y="1284430"/>
            <a:ext cx="12209417" cy="716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tabLst>
                <a:tab pos="1433830" algn="l"/>
              </a:tabLst>
              <a:defRPr/>
            </a:pPr>
            <a:r>
              <a:rPr lang="ko-KR" altLang="en-US" sz="5500" b="1" i="0" u="none" strike="noStrike" dirty="0" err="1">
                <a:solidFill>
                  <a:schemeClr val="bg1"/>
                </a:solidFill>
                <a:cs typeface="굴림"/>
              </a:rPr>
              <a:t>온열질환</a:t>
            </a:r>
            <a:r>
              <a:rPr lang="ko-KR" altLang="en-US" sz="5500" b="1" i="0" u="none" strike="noStrike" dirty="0">
                <a:solidFill>
                  <a:schemeClr val="bg1"/>
                </a:solidFill>
                <a:cs typeface="굴림"/>
              </a:rPr>
              <a:t> 디지털 치료제 </a:t>
            </a:r>
            <a:r>
              <a:rPr lang="EN-US" sz="5500" b="1" i="0" u="none" strike="noStrike" dirty="0">
                <a:solidFill>
                  <a:schemeClr val="bg1"/>
                </a:solidFill>
                <a:cs typeface="굴림"/>
              </a:rPr>
              <a:t>“</a:t>
            </a:r>
            <a:r>
              <a:rPr lang="en-US" sz="5500" b="1" dirty="0">
                <a:solidFill>
                  <a:schemeClr val="bg1"/>
                </a:solidFill>
                <a:cs typeface="굴림"/>
              </a:rPr>
              <a:t>Hot</a:t>
            </a:r>
            <a:r>
              <a:rPr lang="ko-KR" altLang="en-US" sz="5500" b="1" dirty="0">
                <a:solidFill>
                  <a:schemeClr val="bg1"/>
                </a:solidFill>
                <a:cs typeface="굴림"/>
              </a:rPr>
              <a:t> </a:t>
            </a:r>
            <a:r>
              <a:rPr lang="en-US" altLang="ko-KR" sz="5500" b="1" dirty="0">
                <a:solidFill>
                  <a:schemeClr val="bg1"/>
                </a:solidFill>
                <a:cs typeface="굴림"/>
              </a:rPr>
              <a:t>Summer</a:t>
            </a:r>
            <a:r>
              <a:rPr lang="EN-US" sz="5500" b="1" i="0" u="none" strike="noStrike" dirty="0">
                <a:solidFill>
                  <a:schemeClr val="bg1"/>
                </a:solidFill>
                <a:cs typeface="굴림"/>
              </a:rPr>
              <a:t>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4B9F0-0FFA-66CF-AAB2-1397FFE0FFA1}"/>
              </a:ext>
            </a:extLst>
          </p:cNvPr>
          <p:cNvSpPr txBox="1"/>
          <p:nvPr/>
        </p:nvSpPr>
        <p:spPr>
          <a:xfrm>
            <a:off x="14653840" y="3137548"/>
            <a:ext cx="1144006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500" b="1" dirty="0"/>
              <a:t>대표학생 </a:t>
            </a:r>
            <a:r>
              <a:rPr lang="en-US" altLang="ko-KR" sz="3500" b="1" dirty="0"/>
              <a:t>: </a:t>
            </a:r>
            <a:r>
              <a:rPr lang="ko-KR" altLang="en-US" sz="3500" b="1" dirty="0"/>
              <a:t>김지후</a:t>
            </a:r>
            <a:endParaRPr lang="en-US" altLang="ko-KR" sz="3500" b="1" dirty="0"/>
          </a:p>
          <a:p>
            <a:r>
              <a:rPr lang="ko-KR" altLang="en-US" sz="3500" b="1" dirty="0"/>
              <a:t>참여학생 </a:t>
            </a:r>
            <a:r>
              <a:rPr lang="en-US" altLang="ko-KR" sz="3500" b="1" dirty="0"/>
              <a:t>: </a:t>
            </a:r>
            <a:r>
              <a:rPr lang="ko-KR" altLang="en-US" sz="3500" b="1" dirty="0"/>
              <a:t>조영규</a:t>
            </a:r>
            <a:r>
              <a:rPr lang="en-US" altLang="ko-KR" sz="3500" b="1" dirty="0"/>
              <a:t>, </a:t>
            </a:r>
            <a:r>
              <a:rPr lang="ko-KR" altLang="en-US" sz="3500" b="1" dirty="0"/>
              <a:t>김동민</a:t>
            </a:r>
            <a:endParaRPr lang="en-US" altLang="ko-KR" sz="3500" b="1" dirty="0"/>
          </a:p>
          <a:p>
            <a:r>
              <a:rPr lang="ko-KR" altLang="en-US" sz="3500" b="1" dirty="0"/>
              <a:t>지도교수 </a:t>
            </a:r>
            <a:r>
              <a:rPr lang="en-US" altLang="ko-KR" sz="3500" b="1" dirty="0"/>
              <a:t>: </a:t>
            </a:r>
            <a:r>
              <a:rPr lang="ko-KR" altLang="en-US" sz="3500" b="1" dirty="0"/>
              <a:t>임승철 교수님</a:t>
            </a:r>
            <a:r>
              <a:rPr lang="en-US" altLang="ko-KR" sz="3500" b="1" dirty="0"/>
              <a:t> </a:t>
            </a:r>
            <a:endParaRPr lang="ko-KR" altLang="en-US" sz="3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D1263B-7538-6E19-32CF-7C585A5E1EBD}"/>
              </a:ext>
            </a:extLst>
          </p:cNvPr>
          <p:cNvSpPr txBox="1"/>
          <p:nvPr/>
        </p:nvSpPr>
        <p:spPr>
          <a:xfrm>
            <a:off x="1126029" y="7012792"/>
            <a:ext cx="18606100" cy="158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ko-KR" sz="3500" b="1" dirty="0">
              <a:latin typeface="돋움"/>
              <a:ea typeface="돋움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3500" b="1" dirty="0">
                <a:latin typeface="돋움"/>
                <a:ea typeface="돋움"/>
              </a:rPr>
              <a:t> </a:t>
            </a:r>
            <a:endParaRPr lang="en-US" altLang="ko-KR" sz="3500" b="1" dirty="0">
              <a:latin typeface="돋움"/>
              <a:ea typeface="돋움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DCA48E-B7AC-7300-CC07-4011771AAD11}"/>
              </a:ext>
            </a:extLst>
          </p:cNvPr>
          <p:cNvSpPr txBox="1"/>
          <p:nvPr/>
        </p:nvSpPr>
        <p:spPr>
          <a:xfrm>
            <a:off x="1175167" y="24084091"/>
            <a:ext cx="18606100" cy="663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ko-KR" altLang="en-US" sz="3600" b="1" dirty="0">
                <a:latin typeface="+mn-ea"/>
              </a:rPr>
              <a:t>심박수</a:t>
            </a:r>
            <a:r>
              <a:rPr lang="en-US" altLang="ko-KR" sz="3600" b="1" dirty="0">
                <a:latin typeface="+mn-ea"/>
              </a:rPr>
              <a:t>, </a:t>
            </a:r>
            <a:r>
              <a:rPr lang="ko-KR" altLang="en-US" sz="3600" b="1" dirty="0">
                <a:latin typeface="+mn-ea"/>
              </a:rPr>
              <a:t>체온</a:t>
            </a:r>
            <a:r>
              <a:rPr lang="en-US" altLang="ko-KR" sz="3600" b="1" dirty="0">
                <a:latin typeface="+mn-ea"/>
              </a:rPr>
              <a:t>, </a:t>
            </a:r>
            <a:r>
              <a:rPr lang="ko-KR" altLang="en-US" sz="3600" b="1" dirty="0" err="1">
                <a:latin typeface="+mn-ea"/>
              </a:rPr>
              <a:t>산소포화도를</a:t>
            </a:r>
            <a:r>
              <a:rPr lang="ko-KR" altLang="en-US" sz="3600" b="1" dirty="0">
                <a:latin typeface="+mn-ea"/>
              </a:rPr>
              <a:t> 실시간으로 측정하여 </a:t>
            </a:r>
            <a:r>
              <a:rPr lang="ko-KR" altLang="en-US" sz="3600" b="1" dirty="0" err="1">
                <a:latin typeface="+mn-ea"/>
              </a:rPr>
              <a:t>온열질환</a:t>
            </a:r>
            <a:r>
              <a:rPr lang="ko-KR" altLang="en-US" sz="3600" b="1" dirty="0">
                <a:latin typeface="+mn-ea"/>
              </a:rPr>
              <a:t> 발생 확률을 계산하고 </a:t>
            </a:r>
            <a:endParaRPr lang="en-US" altLang="ko-KR" sz="3600" b="1" dirty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3600" b="1" dirty="0">
                <a:latin typeface="+mn-ea"/>
              </a:rPr>
              <a:t>	</a:t>
            </a:r>
            <a:r>
              <a:rPr lang="ko-KR" altLang="en-US" sz="3600" b="1" dirty="0">
                <a:latin typeface="+mn-ea"/>
              </a:rPr>
              <a:t>예방 조치를 제공</a:t>
            </a:r>
            <a:endParaRPr lang="en-US" altLang="ko-KR" sz="3500" b="1" dirty="0">
              <a:latin typeface="+mn-ea"/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ko-KR" altLang="en-US" sz="3600" b="1" dirty="0" err="1">
                <a:latin typeface="+mn-ea"/>
              </a:rPr>
              <a:t>온열질환</a:t>
            </a:r>
            <a:r>
              <a:rPr lang="ko-KR" altLang="en-US" sz="3600" b="1" dirty="0">
                <a:latin typeface="+mn-ea"/>
              </a:rPr>
              <a:t> 예방을 위한 맞춤형 매뉴얼을 제공하고 관련 기관 전화번호 안내를 통해 </a:t>
            </a:r>
            <a:endParaRPr lang="en-US" altLang="ko-KR" sz="3600" b="1" dirty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3600" b="1" dirty="0">
                <a:latin typeface="+mn-ea"/>
              </a:rPr>
              <a:t>	</a:t>
            </a:r>
            <a:r>
              <a:rPr lang="ko-KR" altLang="en-US" sz="3600" b="1" dirty="0">
                <a:latin typeface="+mn-ea"/>
              </a:rPr>
              <a:t>응급상황에 신속히 대응</a:t>
            </a:r>
            <a:endParaRPr lang="en-US" altLang="ko-KR" sz="3600" b="1" dirty="0">
              <a:latin typeface="+mn-ea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ko-KR" altLang="en-US" sz="3600" b="1" dirty="0">
                <a:latin typeface="+mn-ea"/>
              </a:rPr>
              <a:t>고온 환경에서 장시간 작업하는 직업군에게 실질적인 도움을 제공하여 건강 보호와 작업 안전성 향상</a:t>
            </a:r>
            <a:endParaRPr lang="en-US" altLang="ko-KR" sz="3600" b="1" dirty="0">
              <a:latin typeface="+mn-ea"/>
            </a:endParaRPr>
          </a:p>
          <a:p>
            <a:pPr marL="571500" lvl="0" indent="-5715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ko-KR" sz="3600" dirty="0"/>
          </a:p>
          <a:p>
            <a:pPr lvl="0">
              <a:lnSpc>
                <a:spcPct val="150000"/>
              </a:lnSpc>
              <a:defRPr/>
            </a:pPr>
            <a:r>
              <a:rPr lang="en-US" altLang="ko-KR" sz="3600" b="1" dirty="0">
                <a:latin typeface="+mn-ea"/>
              </a:rPr>
              <a:t> </a:t>
            </a:r>
            <a:r>
              <a:rPr lang="ko-KR" altLang="en-US" sz="3500" b="1" dirty="0">
                <a:latin typeface="돋움"/>
                <a:ea typeface="돋움"/>
              </a:rPr>
              <a:t> </a:t>
            </a:r>
            <a:endParaRPr lang="en-US" altLang="ko-KR" sz="3500" b="1" dirty="0">
              <a:latin typeface="돋움"/>
              <a:ea typeface="돋움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F7E097-E8FD-789B-4A76-952D8FCC03A2}"/>
              </a:ext>
            </a:extLst>
          </p:cNvPr>
          <p:cNvSpPr txBox="1"/>
          <p:nvPr/>
        </p:nvSpPr>
        <p:spPr>
          <a:xfrm>
            <a:off x="1126029" y="7088084"/>
            <a:ext cx="18606100" cy="4138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ko-KR" altLang="en-US" sz="3600" b="1" dirty="0">
                <a:latin typeface="+mn-ea"/>
              </a:rPr>
              <a:t>기후 변화로 인해 폭염의 빈도와 강도는 해가 지날수록 늘어나고 있음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ko-KR" altLang="en-US" sz="3600" b="1" dirty="0" err="1">
                <a:latin typeface="+mn-ea"/>
              </a:rPr>
              <a:t>온열질환</a:t>
            </a:r>
            <a:r>
              <a:rPr lang="ko-KR" altLang="en-US" sz="3600" b="1" dirty="0">
                <a:latin typeface="+mn-ea"/>
              </a:rPr>
              <a:t> 환자가 </a:t>
            </a:r>
            <a:r>
              <a:rPr lang="ko-KR" altLang="en-US" sz="3600" b="1" dirty="0" err="1">
                <a:latin typeface="+mn-ea"/>
              </a:rPr>
              <a:t>늘어감에</a:t>
            </a:r>
            <a:r>
              <a:rPr lang="ko-KR" altLang="en-US" sz="3600" b="1" dirty="0">
                <a:latin typeface="+mn-ea"/>
              </a:rPr>
              <a:t> 따라 예방 및 신속한 조치가 필요함</a:t>
            </a:r>
            <a:endParaRPr lang="en-US" altLang="ko-KR" sz="3600" b="1" dirty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3600" b="1" dirty="0">
              <a:latin typeface="+mn-ea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sz="3600" dirty="0"/>
          </a:p>
          <a:p>
            <a:pPr lvl="0">
              <a:lnSpc>
                <a:spcPct val="150000"/>
              </a:lnSpc>
              <a:defRPr/>
            </a:pPr>
            <a:r>
              <a:rPr lang="en-US" altLang="ko-KR" sz="3600" b="1" dirty="0">
                <a:latin typeface="+mn-ea"/>
              </a:rPr>
              <a:t> </a:t>
            </a:r>
            <a:r>
              <a:rPr lang="ko-KR" altLang="en-US" sz="3500" b="1" dirty="0">
                <a:latin typeface="돋움"/>
                <a:ea typeface="돋움"/>
              </a:rPr>
              <a:t> </a:t>
            </a:r>
            <a:endParaRPr lang="en-US" altLang="ko-KR" sz="3500" b="1" dirty="0">
              <a:latin typeface="돋움"/>
              <a:ea typeface="돋움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7582B5F-C0D4-5328-9B6B-951D5C161A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8" b="9839"/>
          <a:stretch/>
        </p:blipFill>
        <p:spPr>
          <a:xfrm>
            <a:off x="1395902" y="8816276"/>
            <a:ext cx="8847291" cy="405628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9CF4450-0EB8-23AC-3181-43CF12A99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4002" y="8595213"/>
            <a:ext cx="8847291" cy="4201357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327B2382-DA3C-6263-2275-F76567376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364104992">
            <a:extLst>
              <a:ext uri="{FF2B5EF4-FFF2-40B4-BE49-F238E27FC236}">
                <a16:creationId xmlns:a16="http://schemas.microsoft.com/office/drawing/2014/main" id="{D37CD789-A287-1E43-6816-6CE2B0B6E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902" y="15262959"/>
            <a:ext cx="4389231" cy="584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4">
            <a:extLst>
              <a:ext uri="{FF2B5EF4-FFF2-40B4-BE49-F238E27FC236}">
                <a16:creationId xmlns:a16="http://schemas.microsoft.com/office/drawing/2014/main" id="{070EA384-D242-F8CF-0A17-FD36FBFA6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364110320">
            <a:extLst>
              <a:ext uri="{FF2B5EF4-FFF2-40B4-BE49-F238E27FC236}">
                <a16:creationId xmlns:a16="http://schemas.microsoft.com/office/drawing/2014/main" id="{ED54DCDB-CE1C-BE50-29AB-E3C83ADEF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214" y="15228169"/>
            <a:ext cx="4268577" cy="584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6">
            <a:extLst>
              <a:ext uri="{FF2B5EF4-FFF2-40B4-BE49-F238E27FC236}">
                <a16:creationId xmlns:a16="http://schemas.microsoft.com/office/drawing/2014/main" id="{3027509B-B958-8FB6-E982-E6DD4E6CC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38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9" name="_x364097144">
            <a:extLst>
              <a:ext uri="{FF2B5EF4-FFF2-40B4-BE49-F238E27FC236}">
                <a16:creationId xmlns:a16="http://schemas.microsoft.com/office/drawing/2014/main" id="{77F9E106-4D48-E6D8-60FC-EDB4F8F3E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3402" y="15262959"/>
            <a:ext cx="4268577" cy="58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A33901C6-8F81-8615-B199-B3EBF8A901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4001" y="15262959"/>
            <a:ext cx="4231887" cy="58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98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182</TotalTime>
  <Words>91</Words>
  <Application>Microsoft Office PowerPoint</Application>
  <PresentationFormat>사용자 지정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돋움</vt:lpstr>
      <vt:lpstr>맑은 고딕</vt:lpstr>
      <vt:lpstr>Arial</vt:lpstr>
      <vt:lpstr>Calibri</vt:lpstr>
      <vt:lpstr>Calibri Light</vt:lpstr>
      <vt:lpstr>Wingdings</vt:lpstr>
      <vt:lpstr>Office 2013 - 2022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황승희</dc:creator>
  <cp:lastModifiedBy>조영규</cp:lastModifiedBy>
  <cp:revision>109</cp:revision>
  <dcterms:created xsi:type="dcterms:W3CDTF">2015-12-02T08:13:32Z</dcterms:created>
  <dcterms:modified xsi:type="dcterms:W3CDTF">2024-12-10T22:26:16Z</dcterms:modified>
  <cp:version/>
</cp:coreProperties>
</file>